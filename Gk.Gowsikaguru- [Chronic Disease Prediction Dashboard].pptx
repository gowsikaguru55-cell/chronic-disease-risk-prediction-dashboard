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9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146847058" r:id="rId11"/>
    <p:sldId id="267" r:id="rId12"/>
    <p:sldId id="2146847057" r:id="rId13"/>
    <p:sldId id="268" r:id="rId14"/>
    <p:sldId id="2146847055" r:id="rId15"/>
    <p:sldId id="269" r:id="rId16"/>
    <p:sldId id="2146847056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276" y="-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pPr/>
              <a:t>14-09-2026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pPr/>
              <a:t>9/14/2026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01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i.google.dev/gemini-api/doc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CHRONIC DISEASE RISK PREDICTION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2925" y="3925184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</a:t>
            </a:r>
            <a:r>
              <a:rPr lang="en-US" sz="2000" b="1" dirty="0" err="1">
                <a:solidFill>
                  <a:schemeClr val="bg1"/>
                </a:solidFill>
                <a:latin typeface="Arial"/>
                <a:cs typeface="Arial"/>
              </a:rPr>
              <a:t>Gk.Gowsikaguru</a:t>
            </a:r>
            <a:endParaRPr lang="en-US" sz="2000" b="1" dirty="0">
              <a:solidFill>
                <a:schemeClr val="bg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</a:t>
            </a:r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Bishop Heber College (Autonomous)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 </a:t>
            </a:r>
            <a:r>
              <a:rPr lang="en-US" sz="2000" b="1" dirty="0" err="1">
                <a:solidFill>
                  <a:schemeClr val="bg1"/>
                </a:solidFill>
                <a:latin typeface="Arial"/>
                <a:cs typeface="Arial"/>
              </a:rPr>
              <a:t>M.sc.Zoology</a:t>
            </a:r>
            <a:endParaRPr lang="en-US" sz="2000" b="1" dirty="0">
              <a:solidFill>
                <a:schemeClr val="bg1"/>
              </a:solidFill>
              <a:latin typeface="Arial"/>
              <a:cs typeface="Arial"/>
            </a:endParaRP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   AICTE ID- </a:t>
            </a:r>
            <a:r>
              <a:rPr lang="en-IN" sz="2000" b="1" dirty="0">
                <a:solidFill>
                  <a:schemeClr val="bg1">
                    <a:lumMod val="95000"/>
                  </a:schemeClr>
                </a:solidFill>
              </a:rPr>
              <a:t>STU6a5fb0e83425c1784656104</a:t>
            </a:r>
            <a:endParaRPr lang="en-US" sz="2000" b="1" dirty="0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91ACADB-E9AB-4E30-94F2-FD900EA16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489"/>
            <a:ext cx="664156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394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394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394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394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394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394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394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394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39445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394450" algn="r"/>
              </a:tabLst>
            </a:pPr>
            <a:r>
              <a:rPr lang="en-US" altLang="en-US" sz="1000" dirty="0">
                <a:ea typeface="Times New Roman" panose="02020603050405020304" pitchFamily="18" charset="0"/>
              </a:rPr>
              <a:t>	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63" y="1237956"/>
            <a:ext cx="11074055" cy="4672999"/>
          </a:xfrm>
        </p:spPr>
        <p:txBody>
          <a:bodyPr>
            <a:normAutofit fontScale="92500"/>
          </a:bodyPr>
          <a:lstStyle/>
          <a:p>
            <a:pPr marL="342900" indent="-342900"/>
            <a:r>
              <a:rPr lang="en-US" sz="2400" dirty="0">
                <a:latin typeface="Arial"/>
                <a:cs typeface="Arial"/>
              </a:rPr>
              <a:t>Chronic diseases such as diabetes, heart disease, and hypertension are major long-term health concerns.</a:t>
            </a:r>
          </a:p>
          <a:p>
            <a:pPr marL="342900" indent="-342900"/>
            <a:r>
              <a:rPr lang="en-US" sz="2400" dirty="0">
                <a:latin typeface="Arial"/>
                <a:cs typeface="Arial"/>
              </a:rPr>
              <a:t>Early identification of people at higher risk can support timely medical attention and preventive care.</a:t>
            </a:r>
          </a:p>
          <a:p>
            <a:pPr marL="342900" indent="-342900"/>
            <a:r>
              <a:rPr lang="en-US" sz="2400" dirty="0">
                <a:latin typeface="Arial"/>
                <a:cs typeface="Arial"/>
              </a:rPr>
              <a:t>Traditional risk assessment may require manual analysis of multiple health parameters.</a:t>
            </a:r>
          </a:p>
          <a:p>
            <a:pPr marL="342900" indent="-342900"/>
            <a:r>
              <a:rPr lang="en-US" sz="2400" dirty="0">
                <a:latin typeface="Arial"/>
                <a:cs typeface="Arial"/>
              </a:rPr>
              <a:t>Patients may find it difficult to understand how factors such as age, BMI, blood pressure, glucose level, and lifestyle contribute to disease risk.</a:t>
            </a:r>
          </a:p>
          <a:p>
            <a:pPr marL="342900" indent="-342900"/>
            <a:r>
              <a:rPr lang="en-US" sz="2400" dirty="0">
                <a:latin typeface="Arial"/>
                <a:cs typeface="Arial"/>
              </a:rPr>
              <a:t>Therefore, there is a need for an easy-to-use dashboard that can analyze health-related inputs and present chronic disease risk in a simple and understandable way.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9"/>
            <a:ext cx="11613485" cy="4033262"/>
          </a:xfrm>
        </p:spPr>
        <p:txBody>
          <a:bodyPr>
            <a:normAutofit fontScale="97500"/>
          </a:bodyPr>
          <a:lstStyle/>
          <a:p>
            <a:r>
              <a:rPr lang="en-US" sz="2000" dirty="0">
                <a:latin typeface="Arial"/>
                <a:cs typeface="Arial"/>
              </a:rPr>
              <a:t>AI-Based Risk Prediction: Analyze user-provided health and demographic information.</a:t>
            </a:r>
          </a:p>
          <a:p>
            <a:r>
              <a:rPr lang="en-US" sz="2000" dirty="0">
                <a:latin typeface="Arial"/>
                <a:cs typeface="Arial"/>
              </a:rPr>
              <a:t>Risk Assessment: Predict the likelihood/risk level of selected chronic diseases.</a:t>
            </a:r>
          </a:p>
          <a:p>
            <a:r>
              <a:rPr lang="en-US" sz="2000" dirty="0">
                <a:latin typeface="Arial"/>
                <a:cs typeface="Arial"/>
              </a:rPr>
              <a:t>Interactive Dashboard: Display input parameters and prediction results in a clear visual format.</a:t>
            </a:r>
          </a:p>
          <a:p>
            <a:r>
              <a:rPr lang="en-US" sz="2000" dirty="0">
                <a:latin typeface="Arial"/>
                <a:cs typeface="Arial"/>
              </a:rPr>
              <a:t>Risk Visualization: Present results using cards, charts, and risk indicators.</a:t>
            </a:r>
          </a:p>
          <a:p>
            <a:r>
              <a:rPr lang="en-US" sz="2000" dirty="0">
                <a:latin typeface="Arial"/>
                <a:cs typeface="Arial"/>
              </a:rPr>
              <a:t>Preventive Guidance: Provide general lifestyle and health-management suggestions based on the predicted risk.</a:t>
            </a:r>
          </a:p>
          <a:p>
            <a:r>
              <a:rPr lang="en-US" sz="2000" dirty="0">
                <a:latin typeface="Arial"/>
                <a:cs typeface="Arial"/>
              </a:rPr>
              <a:t>User-Friendly Interface: Allow users to enter health information and receive results quickly.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-2532185"/>
            <a:ext cx="11029615" cy="9006939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endParaRPr lang="en-US" sz="1400" dirty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0F0F0F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rgbClr val="0F0F0F"/>
                </a:solidFill>
              </a:rPr>
              <a:t>Technologies </a:t>
            </a:r>
            <a:r>
              <a:rPr lang="en-IN" sz="1800" b="1" dirty="0" err="1">
                <a:solidFill>
                  <a:srgbClr val="0F0F0F"/>
                </a:solidFill>
              </a:rPr>
              <a:t>Used</a:t>
            </a:r>
            <a:r>
              <a:rPr lang="en-IN" sz="1800" dirty="0" err="1">
                <a:solidFill>
                  <a:srgbClr val="0F0F0F"/>
                </a:solidFill>
              </a:rPr>
              <a:t>:Python</a:t>
            </a:r>
            <a:r>
              <a:rPr lang="en-IN" sz="1800" dirty="0">
                <a:solidFill>
                  <a:srgbClr val="0F0F0F"/>
                </a:solidFill>
              </a:rPr>
              <a:t>, </a:t>
            </a:r>
            <a:r>
              <a:rPr lang="en-IN" sz="1800" dirty="0" err="1">
                <a:solidFill>
                  <a:srgbClr val="0F0F0F"/>
                </a:solidFill>
              </a:rPr>
              <a:t>StreamlitGoogle</a:t>
            </a:r>
            <a:r>
              <a:rPr lang="en-IN" sz="1800" dirty="0">
                <a:solidFill>
                  <a:srgbClr val="0F0F0F"/>
                </a:solidFill>
              </a:rPr>
              <a:t>, Gemini / </a:t>
            </a:r>
            <a:r>
              <a:rPr lang="en-IN" sz="1800" dirty="0" err="1">
                <a:solidFill>
                  <a:srgbClr val="0F0F0F"/>
                </a:solidFill>
              </a:rPr>
              <a:t>GenAI</a:t>
            </a:r>
            <a:r>
              <a:rPr lang="en-IN" sz="1800" dirty="0">
                <a:solidFill>
                  <a:srgbClr val="0F0F0F"/>
                </a:solidFill>
              </a:rPr>
              <a:t> API (if you actually used it)IBM </a:t>
            </a:r>
            <a:r>
              <a:rPr lang="en-IN" sz="1800" dirty="0" err="1">
                <a:solidFill>
                  <a:srgbClr val="0F0F0F"/>
                </a:solidFill>
              </a:rPr>
              <a:t>BobMachine</a:t>
            </a:r>
            <a:r>
              <a:rPr lang="en-IN" sz="1800" dirty="0">
                <a:solidFill>
                  <a:srgbClr val="0F0F0F"/>
                </a:solidFill>
              </a:rPr>
              <a:t> Learning / AI </a:t>
            </a:r>
            <a:r>
              <a:rPr lang="en-IN" sz="1800" dirty="0" err="1">
                <a:solidFill>
                  <a:srgbClr val="0F0F0F"/>
                </a:solidFill>
              </a:rPr>
              <a:t>techniquesPandasData</a:t>
            </a:r>
            <a:r>
              <a:rPr lang="en-IN" sz="1800" dirty="0">
                <a:solidFill>
                  <a:srgbClr val="0F0F0F"/>
                </a:solidFill>
              </a:rPr>
              <a:t> visualization libraries</a:t>
            </a:r>
          </a:p>
          <a:p>
            <a:r>
              <a:rPr lang="en-IN" sz="1800" b="1" dirty="0">
                <a:solidFill>
                  <a:srgbClr val="0F0F0F"/>
                </a:solidFill>
              </a:rPr>
              <a:t>Input </a:t>
            </a:r>
            <a:r>
              <a:rPr lang="en-IN" sz="1800" b="1" dirty="0" err="1">
                <a:solidFill>
                  <a:srgbClr val="0F0F0F"/>
                </a:solidFill>
              </a:rPr>
              <a:t>Features</a:t>
            </a:r>
            <a:r>
              <a:rPr lang="en-IN" sz="1800" dirty="0" err="1">
                <a:solidFill>
                  <a:srgbClr val="0F0F0F"/>
                </a:solidFill>
              </a:rPr>
              <a:t>:Age</a:t>
            </a:r>
            <a:r>
              <a:rPr lang="en-IN" sz="1800" dirty="0">
                <a:solidFill>
                  <a:srgbClr val="0F0F0F"/>
                </a:solidFill>
              </a:rPr>
              <a:t>, Gender, BMI, Blood pressure, Blood glucose level, Cholesterol, Physical activity, Smoking/</a:t>
            </a:r>
            <a:r>
              <a:rPr lang="en-IN" sz="1800" dirty="0" err="1">
                <a:solidFill>
                  <a:srgbClr val="0F0F0F"/>
                </a:solidFill>
              </a:rPr>
              <a:t>alcoholstatus</a:t>
            </a:r>
            <a:r>
              <a:rPr lang="en-IN" sz="1800" dirty="0">
                <a:solidFill>
                  <a:srgbClr val="0F0F0F"/>
                </a:solidFill>
              </a:rPr>
              <a:t>,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F0F0F"/>
                </a:solidFill>
              </a:rPr>
              <a:t>Family history, Other relevant health parameters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F0F0F"/>
                </a:solidFill>
              </a:rPr>
              <a:t>Output: </a:t>
            </a:r>
            <a:r>
              <a:rPr lang="en-US" sz="1800" dirty="0">
                <a:solidFill>
                  <a:srgbClr val="0F0F0F"/>
                </a:solidFill>
              </a:rPr>
              <a:t>Predict</a:t>
            </a:r>
            <a:r>
              <a:rPr lang="en-US" sz="1800" b="1" dirty="0">
                <a:solidFill>
                  <a:srgbClr val="0F0F0F"/>
                </a:solidFill>
              </a:rPr>
              <a:t> </a:t>
            </a:r>
            <a:r>
              <a:rPr lang="en-US" sz="1800" dirty="0">
                <a:solidFill>
                  <a:srgbClr val="0F0F0F"/>
                </a:solidFill>
              </a:rPr>
              <a:t>chronic disease risk, Risk level/category, Important contributing factors and Preventive recommendations</a:t>
            </a:r>
            <a:endParaRPr lang="en-IN" sz="1800" dirty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1400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 (1/2)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792" y="1482519"/>
            <a:ext cx="11029615" cy="4976895"/>
          </a:xfrm>
        </p:spPr>
        <p:txBody>
          <a:bodyPr>
            <a:noAutofit/>
          </a:bodyPr>
          <a:lstStyle/>
          <a:p>
            <a:r>
              <a:rPr lang="en-US" sz="1200" b="1" dirty="0">
                <a:latin typeface="Arial"/>
                <a:cs typeface="Arial"/>
              </a:rPr>
              <a:t>Workflow:</a:t>
            </a:r>
          </a:p>
          <a:p>
            <a:r>
              <a:rPr lang="en-US" sz="1200" dirty="0">
                <a:latin typeface="Arial"/>
                <a:cs typeface="Arial"/>
              </a:rPr>
              <a:t>User Health Data</a:t>
            </a:r>
          </a:p>
          <a:p>
            <a:r>
              <a:rPr lang="en-US" sz="1200" dirty="0">
                <a:latin typeface="Arial"/>
                <a:cs typeface="Arial"/>
              </a:rPr>
              <a:t>↓</a:t>
            </a:r>
          </a:p>
          <a:p>
            <a:r>
              <a:rPr lang="en-US" sz="1200" dirty="0">
                <a:latin typeface="Arial"/>
                <a:cs typeface="Arial"/>
              </a:rPr>
              <a:t>Data Processing</a:t>
            </a:r>
          </a:p>
          <a:p>
            <a:r>
              <a:rPr lang="en-US" sz="1200" dirty="0">
                <a:latin typeface="Arial"/>
                <a:cs typeface="Arial"/>
              </a:rPr>
              <a:t>↓</a:t>
            </a:r>
          </a:p>
          <a:p>
            <a:r>
              <a:rPr lang="en-US" sz="1200" dirty="0">
                <a:latin typeface="Arial"/>
                <a:cs typeface="Arial"/>
              </a:rPr>
              <a:t>Risk Prediction Model</a:t>
            </a:r>
          </a:p>
          <a:p>
            <a:r>
              <a:rPr lang="en-US" sz="1200" dirty="0">
                <a:latin typeface="Arial"/>
                <a:cs typeface="Arial"/>
              </a:rPr>
              <a:t>↓</a:t>
            </a:r>
          </a:p>
          <a:p>
            <a:r>
              <a:rPr lang="en-US" sz="1200" dirty="0">
                <a:latin typeface="Arial"/>
                <a:cs typeface="Arial"/>
              </a:rPr>
              <a:t>Risk Classification</a:t>
            </a:r>
          </a:p>
          <a:p>
            <a:r>
              <a:rPr lang="en-US" sz="1200" dirty="0">
                <a:latin typeface="Arial"/>
                <a:cs typeface="Arial"/>
              </a:rPr>
              <a:t>↓</a:t>
            </a:r>
          </a:p>
          <a:p>
            <a:r>
              <a:rPr lang="en-US" sz="1200" dirty="0">
                <a:latin typeface="Arial"/>
                <a:cs typeface="Arial"/>
              </a:rPr>
              <a:t>Dashboard Visualization</a:t>
            </a:r>
          </a:p>
          <a:p>
            <a:r>
              <a:rPr lang="en-US" sz="1200" dirty="0">
                <a:latin typeface="Arial"/>
                <a:cs typeface="Arial"/>
              </a:rPr>
              <a:t>↓</a:t>
            </a:r>
          </a:p>
          <a:p>
            <a:r>
              <a:rPr lang="en-US" sz="1200" dirty="0">
                <a:latin typeface="Arial"/>
                <a:cs typeface="Arial"/>
              </a:rPr>
              <a:t>Preventive Guidance</a:t>
            </a:r>
          </a:p>
          <a:p>
            <a:r>
              <a:rPr lang="en-US" sz="1200" dirty="0">
                <a:latin typeface="Arial"/>
                <a:cs typeface="Arial"/>
              </a:rPr>
              <a:t>Deployment:</a:t>
            </a:r>
          </a:p>
          <a:p>
            <a:r>
              <a:rPr lang="en-US" sz="1200" dirty="0">
                <a:latin typeface="Arial"/>
                <a:cs typeface="Arial"/>
              </a:rPr>
              <a:t>Developed as an interactive </a:t>
            </a:r>
            <a:r>
              <a:rPr lang="en-US" sz="1200" dirty="0" err="1">
                <a:latin typeface="Arial"/>
                <a:cs typeface="Arial"/>
              </a:rPr>
              <a:t>Streamlit</a:t>
            </a:r>
            <a:r>
              <a:rPr lang="en-US" sz="1200" dirty="0">
                <a:latin typeface="Arial"/>
                <a:cs typeface="Arial"/>
              </a:rPr>
              <a:t> web application locally at </a:t>
            </a:r>
            <a:r>
              <a:rPr lang="en-US" sz="1200" dirty="0">
                <a:latin typeface="Arial"/>
                <a:cs typeface="Arial"/>
                <a:hlinkClick r:id="rId2"/>
              </a:rPr>
              <a:t>http://localhost:8501</a:t>
            </a:r>
            <a:r>
              <a:rPr lang="en-US" sz="1200" dirty="0">
                <a:latin typeface="Arial"/>
                <a:cs typeface="Arial"/>
              </a:rPr>
              <a:t>  with the GEMINI_API_KEY</a:t>
            </a:r>
          </a:p>
          <a:p>
            <a:r>
              <a:rPr lang="en-US" sz="1200" dirty="0">
                <a:latin typeface="Arial"/>
                <a:cs typeface="Arial"/>
              </a:rPr>
              <a:t>Users enter health-related parameters through the dashboard.</a:t>
            </a:r>
          </a:p>
          <a:p>
            <a:r>
              <a:rPr lang="en-US" sz="1100" dirty="0">
                <a:latin typeface="Arial"/>
                <a:cs typeface="Arial"/>
              </a:rPr>
              <a:t>The system processes the inputs and displays the predicted risk.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342726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RESULT(1/2)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272633-FB60-4168-8CF6-E2CE4CDDE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195" y="958503"/>
            <a:ext cx="5305593" cy="237825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01FBE7-A7B3-49F1-BF1B-196DC7BF0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531" y="883238"/>
            <a:ext cx="5188361" cy="24535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BBAE18-5429-42E4-A361-32C625055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5195" y="3423138"/>
            <a:ext cx="5211882" cy="25306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333015-4E4D-43EC-A2D5-D6371FE5E9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531" y="3423138"/>
            <a:ext cx="5024237" cy="235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 (1/2)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80000"/>
            <a:ext cx="11029616" cy="56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>
                <a:solidFill>
                  <a:srgbClr val="0F0F0F"/>
                </a:solidFill>
                <a:ea typeface="+mn-lt"/>
                <a:cs typeface="+mn-lt"/>
              </a:rPr>
              <a:t>Upload screen and AI-generated patient-friendly summary, powered by Google Gemini 2.5 Flash.</a:t>
            </a:r>
            <a:endParaRPr lang="en-IN" sz="16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39C848-D431-41D8-9B4A-BF5F9F44A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111302"/>
            <a:ext cx="5146431" cy="33057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77F66F-7654-406D-A2CB-5327C2AA1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354" y="2111302"/>
            <a:ext cx="5146431" cy="330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 (2/2)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80000"/>
            <a:ext cx="11029616" cy="5600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1600">
                <a:solidFill>
                  <a:srgbClr val="0F0F0F"/>
                </a:solidFill>
                <a:ea typeface="+mn-lt"/>
                <a:cs typeface="+mn-lt"/>
              </a:rPr>
              <a:t>Structured abnormal-value view (Python-verified against reference ranges) and doctor questions / next steps generated for the patient.</a:t>
            </a:r>
            <a:endParaRPr lang="en-IN" sz="1600"/>
          </a:p>
        </p:txBody>
      </p:sp>
      <p:pic>
        <p:nvPicPr>
          <p:cNvPr id="6" name="Picture 5" descr="Screenshot__265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815" y="2039231"/>
            <a:ext cx="5500000" cy="30922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005942-E1A6-4AEE-8B8D-5B2E33D82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15" y="2039231"/>
            <a:ext cx="5223971" cy="309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82650"/>
            <a:ext cx="11029616" cy="699964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06768"/>
            <a:ext cx="11029615" cy="4568581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1800" dirty="0">
                <a:latin typeface="Arial"/>
                <a:cs typeface="Arial"/>
              </a:rPr>
              <a:t>The application successfully converts complex lab reports and discharge summaries into clear, patient-friendly summaries with key findings, explained terms, and next steps.</a:t>
            </a:r>
          </a:p>
          <a:p>
            <a:pPr marL="342900" indent="-342900"/>
            <a:r>
              <a:rPr lang="en-US" sz="1800" dirty="0">
                <a:latin typeface="Arial"/>
                <a:cs typeface="Arial"/>
              </a:rPr>
              <a:t>Abnormal values are reliably flagged by combining Gemini’s language understanding with a Python-based numeric check against reference ranges.</a:t>
            </a:r>
          </a:p>
          <a:p>
            <a:pPr marL="342900" indent="-342900"/>
            <a:r>
              <a:rPr lang="en-US" sz="1800" dirty="0">
                <a:latin typeface="Arial"/>
                <a:cs typeface="Arial"/>
              </a:rPr>
              <a:t>OCR fallback allows the tool to also handle scanned or photographed reports, not just digital PDFs.</a:t>
            </a:r>
          </a:p>
          <a:p>
            <a:pPr marL="342900" indent="-342900"/>
            <a:r>
              <a:rPr lang="en-US" sz="1800" dirty="0">
                <a:latin typeface="Arial"/>
                <a:cs typeface="Arial"/>
              </a:rPr>
              <a:t>A clear medical disclaimer is shown on every summary, keeping the tool safely positioned as informational, not diagnostic.</a:t>
            </a:r>
          </a:p>
          <a:p>
            <a:pPr marL="342900" indent="-342900"/>
            <a:r>
              <a:rPr lang="en-US" sz="1800" dirty="0">
                <a:latin typeface="Arial"/>
                <a:cs typeface="Arial"/>
              </a:rPr>
              <a:t>Challenges included accurately extracting tables from varied report layouts, tuning OCR for scanned images, and a PDF-export formatting issue for the downloadable summary.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0"/>
            <a:ext cx="11493577" cy="7080738"/>
          </a:xfrm>
        </p:spPr>
        <p:txBody>
          <a:bodyPr/>
          <a:lstStyle/>
          <a:p>
            <a:pPr marL="0" indent="0">
              <a:buNone/>
            </a:pPr>
            <a:endParaRPr lang="en-US" sz="1400" b="1" dirty="0"/>
          </a:p>
          <a:p>
            <a:pPr marL="305435" indent="-305435"/>
            <a:r>
              <a:rPr lang="en-US" sz="1800" dirty="0">
                <a:ea typeface="+mn-lt"/>
                <a:cs typeface="+mn-lt"/>
              </a:rPr>
              <a:t>Add multi-language support (Hindi and other regional languages) so more patients can understand their reports.</a:t>
            </a:r>
          </a:p>
          <a:p>
            <a:pPr marL="305435" indent="-305435"/>
            <a:r>
              <a:rPr lang="en-US" sz="1800" dirty="0">
                <a:ea typeface="+mn-lt"/>
                <a:cs typeface="+mn-lt"/>
              </a:rPr>
              <a:t>Fix and improve the downloadable PDF summary export.</a:t>
            </a:r>
          </a:p>
          <a:p>
            <a:pPr marL="305435" indent="-305435"/>
            <a:r>
              <a:rPr lang="en-US" sz="1800" dirty="0">
                <a:ea typeface="+mn-lt"/>
                <a:cs typeface="+mn-lt"/>
              </a:rPr>
              <a:t>Track multiple reports over time to show trends in a patient’s health metrics.</a:t>
            </a:r>
          </a:p>
          <a:p>
            <a:pPr marL="305435" indent="-305435"/>
            <a:r>
              <a:rPr lang="en-US" sz="1800" dirty="0">
                <a:ea typeface="+mn-lt"/>
                <a:cs typeface="+mn-lt"/>
              </a:rPr>
              <a:t>Build a mobile app version and add a doctor-facing view for verified professionals.</a:t>
            </a:r>
          </a:p>
          <a:p>
            <a:pPr marL="305435" indent="-305435"/>
            <a:r>
              <a:rPr lang="en-US" sz="1800" dirty="0">
                <a:ea typeface="+mn-lt"/>
                <a:cs typeface="+mn-lt"/>
              </a:rPr>
              <a:t>Explore integration with hospital and clinic record systems for direct report import.</a:t>
            </a:r>
          </a:p>
          <a:p>
            <a:pPr marL="305435" indent="-305435"/>
            <a:r>
              <a:rPr lang="en-US" sz="1800" dirty="0">
                <a:ea typeface="+mn-lt"/>
                <a:cs typeface="+mn-lt"/>
              </a:rPr>
              <a:t>Personalized Preventive Recommendations</a:t>
            </a:r>
          </a:p>
          <a:p>
            <a:pPr marL="305435" indent="-305435"/>
            <a:r>
              <a:rPr lang="en-US" sz="1800" dirty="0">
                <a:ea typeface="+mn-lt"/>
                <a:cs typeface="+mn-lt"/>
              </a:rPr>
              <a:t>Provide recommendations based on individual risk factors, lifestyle, and health parameters.</a:t>
            </a:r>
          </a:p>
          <a:p>
            <a:pPr marL="305435" indent="-305435"/>
            <a:r>
              <a:rPr lang="en-US" sz="1800" dirty="0">
                <a:ea typeface="+mn-lt"/>
                <a:cs typeface="+mn-lt"/>
              </a:rPr>
              <a:t>Integration with Wearable Devices</a:t>
            </a:r>
          </a:p>
          <a:p>
            <a:pPr marL="305435" indent="-305435"/>
            <a:r>
              <a:rPr lang="en-US" sz="1800" dirty="0">
                <a:ea typeface="+mn-lt"/>
                <a:cs typeface="+mn-lt"/>
              </a:rPr>
              <a:t>Connect smartwatches and health-monitoring devices to collect real-time health data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74952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Sources and documentation used while building this project:</a:t>
            </a:r>
          </a:p>
          <a:p>
            <a:pPr marL="305435" indent="-305435"/>
            <a:r>
              <a:rPr lang="en-IN" sz="2000" dirty="0">
                <a:hlinkClick r:id="rId2"/>
              </a:rPr>
              <a:t>Google Gemini API documentation</a:t>
            </a:r>
            <a:endParaRPr lang="en-IN" sz="2000" dirty="0"/>
          </a:p>
          <a:p>
            <a:pPr marL="305435" indent="-305435"/>
            <a:r>
              <a:rPr lang="en-IN" sz="2000" dirty="0"/>
              <a:t>Python Documentation</a:t>
            </a:r>
          </a:p>
          <a:p>
            <a:pPr marL="305435" indent="-305435"/>
            <a:r>
              <a:rPr lang="en-IN" sz="2000" dirty="0" err="1"/>
              <a:t>Streamlit</a:t>
            </a:r>
            <a:r>
              <a:rPr lang="en-IN" sz="2000" dirty="0"/>
              <a:t> Documentation</a:t>
            </a:r>
          </a:p>
          <a:p>
            <a:pPr marL="305435" indent="-305435"/>
            <a:r>
              <a:rPr lang="en-IN" sz="2000" dirty="0"/>
              <a:t>Google Gemini / Google </a:t>
            </a:r>
            <a:r>
              <a:rPr lang="en-IN" sz="2000" dirty="0" err="1"/>
              <a:t>GenAI</a:t>
            </a:r>
            <a:r>
              <a:rPr lang="en-IN" sz="2000" dirty="0"/>
              <a:t> Documentation</a:t>
            </a:r>
          </a:p>
          <a:p>
            <a:pPr marL="305435" indent="-305435"/>
            <a:r>
              <a:rPr lang="en-IN" sz="2000" dirty="0"/>
              <a:t>IBM Bob</a:t>
            </a:r>
          </a:p>
          <a:p>
            <a:pPr marL="305435" indent="-305435"/>
            <a:r>
              <a:rPr lang="en-IN" sz="2000" dirty="0"/>
              <a:t>Research papers related to chronic disease prediction and machine learning</a:t>
            </a:r>
          </a:p>
          <a:p>
            <a:pPr marL="305435" indent="-305435"/>
            <a:r>
              <a:rPr lang="en-IN" sz="2000" dirty="0"/>
              <a:t>Dataset source used for your project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sz="2000" dirty="0" err="1"/>
              <a:t>Github</a:t>
            </a:r>
            <a:r>
              <a:rPr lang="en-IN" sz="2000" dirty="0"/>
              <a:t> Link:</a:t>
            </a:r>
            <a:endParaRPr lang="en-US" sz="2000" dirty="0"/>
          </a:p>
          <a:p>
            <a:pPr marL="305435" indent="-305435"/>
            <a:r>
              <a:rPr lang="en-IN" sz="2000" dirty="0"/>
              <a:t>Deployment Platform: </a:t>
            </a:r>
            <a:r>
              <a:rPr lang="en-IN" sz="2000" dirty="0" err="1"/>
              <a:t>Streamlit</a:t>
            </a:r>
            <a:r>
              <a:rPr lang="en-IN" sz="2000" dirty="0"/>
              <a:t> Community Cloud</a:t>
            </a:r>
          </a:p>
          <a:p>
            <a:pPr marL="305435" indent="-305435"/>
            <a:r>
              <a:rPr lang="en-IN" sz="2000" dirty="0"/>
              <a:t>Live App: a</a:t>
            </a:r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http://purl.org/dc/dcmitype/"/>
    <ds:schemaRef ds:uri="http://schemas.openxmlformats.org/package/2006/metadata/core-properties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c0fa2617-96bd-425d-8578-e93563fe37c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23598</TotalTime>
  <Words>719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Franklin Gothic Book</vt:lpstr>
      <vt:lpstr>Franklin Gothic Demi</vt:lpstr>
      <vt:lpstr>Times New Roman</vt:lpstr>
      <vt:lpstr>Wingdings 2</vt:lpstr>
      <vt:lpstr>DividendVTI</vt:lpstr>
      <vt:lpstr>CHRONIC DISEASE RISK PREDICTION DASHBOARD</vt:lpstr>
      <vt:lpstr>OUTLINE</vt:lpstr>
      <vt:lpstr>Problem Statement</vt:lpstr>
      <vt:lpstr>Proposed Solution</vt:lpstr>
      <vt:lpstr>System  Approach</vt:lpstr>
      <vt:lpstr>Algorithm &amp; Deployment (1/2)</vt:lpstr>
      <vt:lpstr>RESULT(1/2)</vt:lpstr>
      <vt:lpstr>Result (1/2)</vt:lpstr>
      <vt:lpstr>Result (2/2)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DELL</cp:lastModifiedBy>
  <cp:revision>33</cp:revision>
  <dcterms:created xsi:type="dcterms:W3CDTF">2021-05-26T16:50:10Z</dcterms:created>
  <dcterms:modified xsi:type="dcterms:W3CDTF">2026-09-30T15:56:38Z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